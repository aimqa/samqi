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3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SAM QI TOOLKIT  ·  Tool 4: Driver Diagram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"/>
            <a:ext cx="429768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Arial"/>
              </a:rPr>
              <a:t>acutemedicine.org.uk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Arial"/>
              </a:rPr>
              <a:t>Map your AIM → Primary Drivers → Secondary Drivers → Change Ideas. Edit any text box. Add or remove branches as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37744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03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AIM
[Click to edit your SMART AIM statement here]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8686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7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036D3A"/>
                </a:solidFill>
                <a:latin typeface="Arial"/>
              </a:rPr>
              <a:t>PRIMARY DRIVER 1
[Click to edit]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74320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7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036D3A"/>
                </a:solidFill>
                <a:latin typeface="Arial"/>
              </a:rPr>
              <a:t>PRIMARY DRIVER 2
[Click to edit]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61772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7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036D3A"/>
                </a:solidFill>
                <a:latin typeface="Arial"/>
              </a:rPr>
              <a:t>PRIMARY DRIVER 3
[Click to edit]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743200" y="1417320"/>
            <a:ext cx="914400" cy="1874520"/>
          </a:xfrm>
          <a:prstGeom prst="line">
            <a:avLst/>
          </a:prstGeom>
          <a:ln w="19050">
            <a:solidFill>
              <a:srgbClr val="2F7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3291840"/>
            <a:ext cx="914400" cy="0"/>
          </a:xfrm>
          <a:prstGeom prst="line">
            <a:avLst/>
          </a:prstGeom>
          <a:ln w="19050">
            <a:solidFill>
              <a:srgbClr val="2F7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0" y="3291840"/>
            <a:ext cx="914400" cy="1874520"/>
          </a:xfrm>
          <a:prstGeom prst="line">
            <a:avLst/>
          </a:prstGeom>
          <a:ln w="19050">
            <a:solidFill>
              <a:srgbClr val="2F7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66560" y="9144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0F9F4"/>
          </a:solidFill>
          <a:ln w="9525">
            <a:solidFill>
              <a:srgbClr val="2F7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Secondary Driver 1.1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217920" y="1165860"/>
            <a:ext cx="548640" cy="2514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66560" y="1490472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0F9F4"/>
          </a:solidFill>
          <a:ln w="9525">
            <a:solidFill>
              <a:srgbClr val="2F7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Secondary Driver 1.2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0" y="1417320"/>
            <a:ext cx="548640" cy="3246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66560" y="27889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0F9F4"/>
          </a:solidFill>
          <a:ln w="9525">
            <a:solidFill>
              <a:srgbClr val="2F7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Secondary Driver 2.1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217920" y="3040380"/>
            <a:ext cx="548640" cy="2514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66560" y="3364992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0F9F4"/>
          </a:solidFill>
          <a:ln w="9525">
            <a:solidFill>
              <a:srgbClr val="2F7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Secondary Driver 2.2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3291840"/>
            <a:ext cx="548640" cy="3246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66560" y="46634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0F9F4"/>
          </a:solidFill>
          <a:ln w="9525">
            <a:solidFill>
              <a:srgbClr val="2F7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Secondary Driver 3.1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217920" y="4914900"/>
            <a:ext cx="548640" cy="2514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66560" y="5239512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0F9F4"/>
          </a:solidFill>
          <a:ln w="9525">
            <a:solidFill>
              <a:srgbClr val="2F7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Secondary Driver 3.2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0" y="5166360"/>
            <a:ext cx="548640" cy="32461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18320" y="91440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  ➜  Change idea 1.1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61120" y="1165860"/>
            <a:ext cx="457200" cy="0"/>
          </a:xfrm>
          <a:prstGeom prst="line">
            <a:avLst/>
          </a:prstGeom>
          <a:ln w="63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18320" y="1490472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  ➜  Change idea 1.2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61120" y="1741932"/>
            <a:ext cx="457200" cy="0"/>
          </a:xfrm>
          <a:prstGeom prst="line">
            <a:avLst/>
          </a:prstGeom>
          <a:ln w="63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18320" y="27889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  ➜  Change idea 2.1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20" y="3040380"/>
            <a:ext cx="457200" cy="0"/>
          </a:xfrm>
          <a:prstGeom prst="line">
            <a:avLst/>
          </a:prstGeom>
          <a:ln w="63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18320" y="3364992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  ➜  Change idea 2.2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61120" y="3616452"/>
            <a:ext cx="457200" cy="0"/>
          </a:xfrm>
          <a:prstGeom prst="line">
            <a:avLst/>
          </a:prstGeom>
          <a:ln w="63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18320" y="466344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  ➜  Change idea 3.1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61120" y="4914900"/>
            <a:ext cx="457200" cy="0"/>
          </a:xfrm>
          <a:prstGeom prst="line">
            <a:avLst/>
          </a:prstGeom>
          <a:ln w="63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418320" y="5239512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  ➜  Change idea 3.2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61120" y="5490972"/>
            <a:ext cx="457200" cy="0"/>
          </a:xfrm>
          <a:prstGeom prst="line">
            <a:avLst/>
          </a:prstGeom>
          <a:ln w="63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  <a:latin typeface="Arial"/>
              </a:rPr>
              <a:t>Society for Acute Medicine  ·  SAM QI Toolkit  ·  Edit any element to customise for your AMU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3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How to use this Driver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1.  Start with your 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91440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Copy your SMART AIM statement (from Tool 1) into the green AIM box on slide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2.  Identify Primary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8308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What 2–4 high-level factors must change for the AIM to be achieved? These are 'Primary Drivers'. Add or delete boxes as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3.  Map Secondary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For each Primary Driver, identify 2–3 contributing factors that you can directly influence. These are 'Secondary Drivers'.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4.  Generate Change Ideas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2044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For each Secondary Driver, list specific tests of change you could run as PDSA cycles (Tool 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5.  Multi-professional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38912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Driver diagrams are best built with the whole AMU team — nursing, ACPs, pharmacy, AHPs, and medical staff each see different drivers and ideas.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5780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6.  Iterate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25780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Driver diagrams are living documents. Update as you learn what works and what doesn't through PDSA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