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36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45720"/>
            <a:ext cx="7315200" cy="41148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Arial"/>
              </a:rPr>
              <a:t>SAM QI TOOLKIT  ·  Tool 5: Fishbone / Ishikawa Diagram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45720"/>
            <a:ext cx="4297680" cy="41148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1100" b="0" i="1">
                <a:solidFill>
                  <a:srgbClr val="FFFFFF"/>
                </a:solidFill>
                <a:latin typeface="Arial"/>
              </a:rPr>
              <a:t>acutemedicine.org.uk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94360"/>
            <a:ext cx="11430000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000" b="0" i="1">
                <a:solidFill>
                  <a:srgbClr val="666666"/>
                </a:solidFill>
                <a:latin typeface="Arial"/>
              </a:rPr>
              <a:t>Six AMU-relevant categories for cause analysis. Add specific causes to each branch. Delete branches you don't need.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097280" y="3840480"/>
            <a:ext cx="8412480" cy="0"/>
          </a:xfrm>
          <a:prstGeom prst="line">
            <a:avLst/>
          </a:prstGeom>
          <a:ln w="50800">
            <a:solidFill>
              <a:srgbClr val="036D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ight Triangle 6"/>
          <p:cNvSpPr/>
          <p:nvPr/>
        </p:nvSpPr>
        <p:spPr>
          <a:xfrm rot="5400000">
            <a:off x="9509760" y="3657600"/>
            <a:ext cx="365760" cy="365760"/>
          </a:xfrm>
          <a:prstGeom prst="rtTriangle">
            <a:avLst/>
          </a:prstGeom>
          <a:solidFill>
            <a:srgbClr val="036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692640" y="3154680"/>
            <a:ext cx="2286000" cy="1371600"/>
          </a:xfrm>
          <a:prstGeom prst="roundRect">
            <a:avLst>
              <a:gd name="adj" fmla="val 8000"/>
            </a:avLst>
          </a:prstGeom>
          <a:solidFill>
            <a:srgbClr val="036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PROBLEM
[Click to edit
the problem you
are investigating]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1005840"/>
            <a:ext cx="1828800" cy="548640"/>
          </a:xfrm>
          <a:prstGeom prst="roundRect">
            <a:avLst>
              <a:gd name="adj" fmla="val 8000"/>
            </a:avLst>
          </a:prstGeom>
          <a:solidFill>
            <a:srgbClr val="428B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PEOPLE
(staffing, training, skills)</a:t>
            </a:r>
          </a:p>
        </p:txBody>
      </p:sp>
      <p:cxnSp>
        <p:nvCxnSpPr>
          <p:cNvPr id="10" name="Connector 9"/>
          <p:cNvCxnSpPr/>
          <p:nvPr/>
        </p:nvCxnSpPr>
        <p:spPr>
          <a:xfrm flipH="1" flipV="1">
            <a:off x="1828800" y="1554480"/>
            <a:ext cx="1097280" cy="2286000"/>
          </a:xfrm>
          <a:prstGeom prst="line">
            <a:avLst/>
          </a:prstGeom>
          <a:ln w="25400">
            <a:solidFill>
              <a:srgbClr val="428B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371600" y="3383280"/>
            <a:ext cx="914400" cy="0"/>
          </a:xfrm>
          <a:prstGeom prst="line">
            <a:avLst/>
          </a:prstGeom>
          <a:ln w="9525">
            <a:solidFill>
              <a:srgbClr val="6666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91440" y="3273552"/>
            <a:ext cx="1280160" cy="22860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800" b="0" i="1">
                <a:solidFill>
                  <a:srgbClr val="666666"/>
                </a:solidFill>
                <a:latin typeface="Arial"/>
              </a:rPr>
              <a:t>[cause]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737360" y="3017520"/>
            <a:ext cx="914400" cy="0"/>
          </a:xfrm>
          <a:prstGeom prst="line">
            <a:avLst/>
          </a:prstGeom>
          <a:ln w="9525">
            <a:solidFill>
              <a:srgbClr val="6666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457200" y="2907792"/>
            <a:ext cx="1280160" cy="22860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800" b="0" i="1">
                <a:solidFill>
                  <a:srgbClr val="666666"/>
                </a:solidFill>
                <a:latin typeface="Arial"/>
              </a:rPr>
              <a:t>[cause]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103120" y="2651760"/>
            <a:ext cx="914400" cy="0"/>
          </a:xfrm>
          <a:prstGeom prst="line">
            <a:avLst/>
          </a:prstGeom>
          <a:ln w="9525">
            <a:solidFill>
              <a:srgbClr val="6666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22960" y="2542032"/>
            <a:ext cx="1280160" cy="22860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800" b="0" i="1">
                <a:solidFill>
                  <a:srgbClr val="666666"/>
                </a:solidFill>
                <a:latin typeface="Arial"/>
              </a:rPr>
              <a:t>[cause]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91840" y="1005840"/>
            <a:ext cx="1828800" cy="548640"/>
          </a:xfrm>
          <a:prstGeom prst="roundRect">
            <a:avLst>
              <a:gd name="adj" fmla="val 8000"/>
            </a:avLst>
          </a:prstGeom>
          <a:solidFill>
            <a:srgbClr val="2F7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PROCESS
(pathways, protocols, steps)</a:t>
            </a:r>
          </a:p>
        </p:txBody>
      </p:sp>
      <p:cxnSp>
        <p:nvCxnSpPr>
          <p:cNvPr id="18" name="Connector 17"/>
          <p:cNvCxnSpPr/>
          <p:nvPr/>
        </p:nvCxnSpPr>
        <p:spPr>
          <a:xfrm flipH="1" flipV="1">
            <a:off x="4206240" y="1554480"/>
            <a:ext cx="1097280" cy="2286000"/>
          </a:xfrm>
          <a:prstGeom prst="line">
            <a:avLst/>
          </a:prstGeom>
          <a:ln w="25400">
            <a:solidFill>
              <a:srgbClr val="2F76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3749040" y="3383280"/>
            <a:ext cx="914400" cy="0"/>
          </a:xfrm>
          <a:prstGeom prst="line">
            <a:avLst/>
          </a:prstGeom>
          <a:ln w="9525">
            <a:solidFill>
              <a:srgbClr val="6666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2468880" y="3273552"/>
            <a:ext cx="1280160" cy="22860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800" b="0" i="1">
                <a:solidFill>
                  <a:srgbClr val="666666"/>
                </a:solidFill>
                <a:latin typeface="Arial"/>
              </a:rPr>
              <a:t>[cause]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114800" y="3017520"/>
            <a:ext cx="914400" cy="0"/>
          </a:xfrm>
          <a:prstGeom prst="line">
            <a:avLst/>
          </a:prstGeom>
          <a:ln w="9525">
            <a:solidFill>
              <a:srgbClr val="6666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2834640" y="2907792"/>
            <a:ext cx="1280160" cy="22860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800" b="0" i="1">
                <a:solidFill>
                  <a:srgbClr val="666666"/>
                </a:solidFill>
                <a:latin typeface="Arial"/>
              </a:rPr>
              <a:t>[cause]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480560" y="2651760"/>
            <a:ext cx="914400" cy="0"/>
          </a:xfrm>
          <a:prstGeom prst="line">
            <a:avLst/>
          </a:prstGeom>
          <a:ln w="9525">
            <a:solidFill>
              <a:srgbClr val="6666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3200400" y="2542032"/>
            <a:ext cx="1280160" cy="22860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800" b="0" i="1">
                <a:solidFill>
                  <a:srgbClr val="666666"/>
                </a:solidFill>
                <a:latin typeface="Arial"/>
              </a:rPr>
              <a:t>[cause]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669280" y="1005840"/>
            <a:ext cx="1828800" cy="548640"/>
          </a:xfrm>
          <a:prstGeom prst="roundRect">
            <a:avLst>
              <a:gd name="adj" fmla="val 8000"/>
            </a:avLst>
          </a:prstGeom>
          <a:solidFill>
            <a:srgbClr val="7B5E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EQUIPMENT
(IT, kit, drugs, supplies)</a:t>
            </a:r>
          </a:p>
        </p:txBody>
      </p:sp>
      <p:cxnSp>
        <p:nvCxnSpPr>
          <p:cNvPr id="26" name="Connector 25"/>
          <p:cNvCxnSpPr/>
          <p:nvPr/>
        </p:nvCxnSpPr>
        <p:spPr>
          <a:xfrm flipH="1" flipV="1">
            <a:off x="6583680" y="1554480"/>
            <a:ext cx="1097280" cy="2286000"/>
          </a:xfrm>
          <a:prstGeom prst="line">
            <a:avLst/>
          </a:prstGeom>
          <a:ln w="25400">
            <a:solidFill>
              <a:srgbClr val="7B5E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6126480" y="3383280"/>
            <a:ext cx="914400" cy="0"/>
          </a:xfrm>
          <a:prstGeom prst="line">
            <a:avLst/>
          </a:prstGeom>
          <a:ln w="9525">
            <a:solidFill>
              <a:srgbClr val="6666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4846320" y="3273552"/>
            <a:ext cx="1280160" cy="22860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800" b="0" i="1">
                <a:solidFill>
                  <a:srgbClr val="666666"/>
                </a:solidFill>
                <a:latin typeface="Arial"/>
              </a:rPr>
              <a:t>[cause]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6492240" y="3017520"/>
            <a:ext cx="914400" cy="0"/>
          </a:xfrm>
          <a:prstGeom prst="line">
            <a:avLst/>
          </a:prstGeom>
          <a:ln w="9525">
            <a:solidFill>
              <a:srgbClr val="6666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5212080" y="2907792"/>
            <a:ext cx="1280160" cy="22860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800" b="0" i="1">
                <a:solidFill>
                  <a:srgbClr val="666666"/>
                </a:solidFill>
                <a:latin typeface="Arial"/>
              </a:rPr>
              <a:t>[cause]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6858000" y="2651760"/>
            <a:ext cx="914400" cy="0"/>
          </a:xfrm>
          <a:prstGeom prst="line">
            <a:avLst/>
          </a:prstGeom>
          <a:ln w="9525">
            <a:solidFill>
              <a:srgbClr val="6666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5577840" y="2542032"/>
            <a:ext cx="1280160" cy="22860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800" b="0" i="1">
                <a:solidFill>
                  <a:srgbClr val="666666"/>
                </a:solidFill>
                <a:latin typeface="Arial"/>
              </a:rPr>
              <a:t>[cause]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14400" y="5669280"/>
            <a:ext cx="1828800" cy="548640"/>
          </a:xfrm>
          <a:prstGeom prst="roundRect">
            <a:avLst>
              <a:gd name="adj" fmla="val 8000"/>
            </a:avLst>
          </a:prstGeom>
          <a:solidFill>
            <a:srgbClr val="E07B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ENVIRONMENT
(layout, capacity, time of day)</a:t>
            </a:r>
          </a:p>
        </p:txBody>
      </p:sp>
      <p:cxnSp>
        <p:nvCxnSpPr>
          <p:cNvPr id="34" name="Connector 33"/>
          <p:cNvCxnSpPr/>
          <p:nvPr/>
        </p:nvCxnSpPr>
        <p:spPr>
          <a:xfrm flipH="1">
            <a:off x="1828800" y="3840480"/>
            <a:ext cx="1097280" cy="1828800"/>
          </a:xfrm>
          <a:prstGeom prst="line">
            <a:avLst/>
          </a:prstGeom>
          <a:ln w="25400">
            <a:solidFill>
              <a:srgbClr val="E07B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1371600" y="3840480"/>
            <a:ext cx="914400" cy="0"/>
          </a:xfrm>
          <a:prstGeom prst="line">
            <a:avLst/>
          </a:prstGeom>
          <a:ln w="9525">
            <a:solidFill>
              <a:srgbClr val="6666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91440" y="3730752"/>
            <a:ext cx="1280160" cy="22860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800" b="0" i="1">
                <a:solidFill>
                  <a:srgbClr val="666666"/>
                </a:solidFill>
                <a:latin typeface="Arial"/>
              </a:rPr>
              <a:t>[cause]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1737360" y="4206240"/>
            <a:ext cx="914400" cy="0"/>
          </a:xfrm>
          <a:prstGeom prst="line">
            <a:avLst/>
          </a:prstGeom>
          <a:ln w="9525">
            <a:solidFill>
              <a:srgbClr val="6666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457200" y="4096512"/>
            <a:ext cx="1280160" cy="22860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800" b="0" i="1">
                <a:solidFill>
                  <a:srgbClr val="666666"/>
                </a:solidFill>
                <a:latin typeface="Arial"/>
              </a:rPr>
              <a:t>[cause]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2103120" y="4572000"/>
            <a:ext cx="914400" cy="0"/>
          </a:xfrm>
          <a:prstGeom prst="line">
            <a:avLst/>
          </a:prstGeom>
          <a:ln w="9525">
            <a:solidFill>
              <a:srgbClr val="6666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822960" y="4462272"/>
            <a:ext cx="1280160" cy="22860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800" b="0" i="1">
                <a:solidFill>
                  <a:srgbClr val="666666"/>
                </a:solidFill>
                <a:latin typeface="Arial"/>
              </a:rPr>
              <a:t>[cause]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291840" y="5669280"/>
            <a:ext cx="1828800" cy="548640"/>
          </a:xfrm>
          <a:prstGeom prst="roundRect">
            <a:avLst>
              <a:gd name="adj" fmla="val 8000"/>
            </a:avLst>
          </a:prstGeom>
          <a:solidFill>
            <a:srgbClr val="C03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POLICIES
(guidance, governance, culture)</a:t>
            </a:r>
          </a:p>
        </p:txBody>
      </p:sp>
      <p:cxnSp>
        <p:nvCxnSpPr>
          <p:cNvPr id="42" name="Connector 41"/>
          <p:cNvCxnSpPr/>
          <p:nvPr/>
        </p:nvCxnSpPr>
        <p:spPr>
          <a:xfrm flipH="1">
            <a:off x="4206240" y="3840480"/>
            <a:ext cx="1097280" cy="1828800"/>
          </a:xfrm>
          <a:prstGeom prst="line">
            <a:avLst/>
          </a:prstGeom>
          <a:ln w="25400">
            <a:solidFill>
              <a:srgbClr val="C037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3749040" y="3840480"/>
            <a:ext cx="914400" cy="0"/>
          </a:xfrm>
          <a:prstGeom prst="line">
            <a:avLst/>
          </a:prstGeom>
          <a:ln w="9525">
            <a:solidFill>
              <a:srgbClr val="6666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2468880" y="3730752"/>
            <a:ext cx="1280160" cy="22860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800" b="0" i="1">
                <a:solidFill>
                  <a:srgbClr val="666666"/>
                </a:solidFill>
                <a:latin typeface="Arial"/>
              </a:rPr>
              <a:t>[cause]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4114800" y="4206240"/>
            <a:ext cx="914400" cy="0"/>
          </a:xfrm>
          <a:prstGeom prst="line">
            <a:avLst/>
          </a:prstGeom>
          <a:ln w="9525">
            <a:solidFill>
              <a:srgbClr val="6666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2834640" y="4096512"/>
            <a:ext cx="1280160" cy="22860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800" b="0" i="1">
                <a:solidFill>
                  <a:srgbClr val="666666"/>
                </a:solidFill>
                <a:latin typeface="Arial"/>
              </a:rPr>
              <a:t>[cause]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4480560" y="4572000"/>
            <a:ext cx="914400" cy="0"/>
          </a:xfrm>
          <a:prstGeom prst="line">
            <a:avLst/>
          </a:prstGeom>
          <a:ln w="9525">
            <a:solidFill>
              <a:srgbClr val="6666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3200400" y="4462272"/>
            <a:ext cx="1280160" cy="22860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800" b="0" i="1">
                <a:solidFill>
                  <a:srgbClr val="666666"/>
                </a:solidFill>
                <a:latin typeface="Arial"/>
              </a:rPr>
              <a:t>[cause]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5669280" y="5669280"/>
            <a:ext cx="1828800" cy="548640"/>
          </a:xfrm>
          <a:prstGeom prst="roundRect">
            <a:avLst>
              <a:gd name="adj" fmla="val 8000"/>
            </a:avLst>
          </a:prstGeom>
          <a:solidFill>
            <a:srgbClr val="428B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PATIENTS
(complexity, communication, presentation)</a:t>
            </a:r>
          </a:p>
        </p:txBody>
      </p:sp>
      <p:cxnSp>
        <p:nvCxnSpPr>
          <p:cNvPr id="50" name="Connector 49"/>
          <p:cNvCxnSpPr/>
          <p:nvPr/>
        </p:nvCxnSpPr>
        <p:spPr>
          <a:xfrm flipH="1">
            <a:off x="6583680" y="3840480"/>
            <a:ext cx="1097280" cy="1828800"/>
          </a:xfrm>
          <a:prstGeom prst="line">
            <a:avLst/>
          </a:prstGeom>
          <a:ln w="25400">
            <a:solidFill>
              <a:srgbClr val="428B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6126480" y="3840480"/>
            <a:ext cx="914400" cy="0"/>
          </a:xfrm>
          <a:prstGeom prst="line">
            <a:avLst/>
          </a:prstGeom>
          <a:ln w="9525">
            <a:solidFill>
              <a:srgbClr val="6666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4846320" y="3730752"/>
            <a:ext cx="1280160" cy="22860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800" b="0" i="1">
                <a:solidFill>
                  <a:srgbClr val="666666"/>
                </a:solidFill>
                <a:latin typeface="Arial"/>
              </a:rPr>
              <a:t>[cause]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6492240" y="4206240"/>
            <a:ext cx="914400" cy="0"/>
          </a:xfrm>
          <a:prstGeom prst="line">
            <a:avLst/>
          </a:prstGeom>
          <a:ln w="9525">
            <a:solidFill>
              <a:srgbClr val="6666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5212080" y="4096512"/>
            <a:ext cx="1280160" cy="22860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800" b="0" i="1">
                <a:solidFill>
                  <a:srgbClr val="666666"/>
                </a:solidFill>
                <a:latin typeface="Arial"/>
              </a:rPr>
              <a:t>[cause]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6858000" y="4572000"/>
            <a:ext cx="914400" cy="0"/>
          </a:xfrm>
          <a:prstGeom prst="line">
            <a:avLst/>
          </a:prstGeom>
          <a:ln w="9525">
            <a:solidFill>
              <a:srgbClr val="6666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5577840" y="4462272"/>
            <a:ext cx="1280160" cy="22860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r"/>
            <a:r>
              <a:rPr sz="800" b="0" i="1">
                <a:solidFill>
                  <a:srgbClr val="666666"/>
                </a:solidFill>
                <a:latin typeface="Arial"/>
              </a:rPr>
              <a:t>[cause]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65760" y="6492240"/>
            <a:ext cx="11430000" cy="2743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800" b="0" i="1">
                <a:solidFill>
                  <a:srgbClr val="666666"/>
                </a:solidFill>
                <a:latin typeface="Arial"/>
              </a:rPr>
              <a:t>Society for Acute Medicine  ·  SAM QI Toolkit  ·  Replace [cause] placeholders with specific contributing factors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36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45720"/>
            <a:ext cx="11430000" cy="41148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Arial"/>
              </a:rPr>
              <a:t>How to use this Fishbone Diagram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3200400" cy="5486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200" b="1" i="0">
                <a:solidFill>
                  <a:srgbClr val="036D3A"/>
                </a:solidFill>
                <a:latin typeface="Arial"/>
              </a:rPr>
              <a:t>1.  Define 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0" y="914400"/>
            <a:ext cx="7955279" cy="8686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Arial"/>
              </a:rPr>
              <a:t>Replace 'PROBLEM' with a concise statement of what you're trying to fix. Be specific.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783080"/>
            <a:ext cx="3200400" cy="5486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200" b="1" i="0">
                <a:solidFill>
                  <a:srgbClr val="036D3A"/>
                </a:solidFill>
                <a:latin typeface="Arial"/>
              </a:rPr>
              <a:t>2.  Brainstorm with the MDT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1783080"/>
            <a:ext cx="7955279" cy="8686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Arial"/>
              </a:rPr>
              <a:t>Run a 30–45 minute session with nursing, medical, ACP, pharmacy, and AHP staff. Different professions see different causes.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651760"/>
            <a:ext cx="3200400" cy="5486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200" b="1" i="0">
                <a:solidFill>
                  <a:srgbClr val="036D3A"/>
                </a:solidFill>
                <a:latin typeface="Arial"/>
              </a:rPr>
              <a:t>3.  Use 'Why?' five times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651760"/>
            <a:ext cx="7955279" cy="8686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Arial"/>
              </a:rPr>
              <a:t>For each cause, ask 'why does this happen?' until you reach a root cause that can actually be addressed.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520440"/>
            <a:ext cx="3200400" cy="5486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200" b="1" i="0">
                <a:solidFill>
                  <a:srgbClr val="036D3A"/>
                </a:solidFill>
                <a:latin typeface="Arial"/>
              </a:rPr>
              <a:t>4.  Categorise causes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0" y="3520440"/>
            <a:ext cx="7955279" cy="8686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Arial"/>
              </a:rPr>
              <a:t>Place each contributing factor under the most appropriate of the 6 categories. Don't worry if some overlap.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389120"/>
            <a:ext cx="3200400" cy="5486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200" b="1" i="0">
                <a:solidFill>
                  <a:srgbClr val="036D3A"/>
                </a:solidFill>
                <a:latin typeface="Arial"/>
              </a:rPr>
              <a:t>5.  Prioritise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0" y="4389120"/>
            <a:ext cx="7955279" cy="8686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Arial"/>
              </a:rPr>
              <a:t>Not all causes carry equal weight. Use FMEA (Tool 6) to score severity, occurrence, and detectability.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257800"/>
            <a:ext cx="3200400" cy="5486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200" b="1" i="0">
                <a:solidFill>
                  <a:srgbClr val="036D3A"/>
                </a:solidFill>
                <a:latin typeface="Arial"/>
              </a:rPr>
              <a:t>6.  Generate change ideas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0" y="5257800"/>
            <a:ext cx="7955279" cy="8686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Arial"/>
              </a:rPr>
              <a:t>Take the highest-priority causes and feed them into a Driver Diagram (Tool 4) and PDSA cycles (Tool 2).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